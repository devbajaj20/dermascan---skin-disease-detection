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71" r:id="rId5"/>
    <p:sldId id="259" r:id="rId6"/>
    <p:sldId id="269" r:id="rId7"/>
    <p:sldId id="261" r:id="rId8"/>
    <p:sldId id="270" r:id="rId9"/>
    <p:sldId id="275" r:id="rId10"/>
    <p:sldId id="272" r:id="rId11"/>
    <p:sldId id="274" r:id="rId12"/>
    <p:sldId id="277" r:id="rId13"/>
    <p:sldId id="279" r:id="rId14"/>
    <p:sldId id="280" r:id="rId15"/>
    <p:sldId id="281" r:id="rId16"/>
    <p:sldId id="282" r:id="rId17"/>
    <p:sldId id="287" r:id="rId18"/>
    <p:sldId id="283" r:id="rId19"/>
    <p:sldId id="284" r:id="rId20"/>
    <p:sldId id="285" r:id="rId21"/>
    <p:sldId id="286" r:id="rId22"/>
    <p:sldId id="264" r:id="rId23"/>
    <p:sldId id="268" r:id="rId24"/>
    <p:sldId id="266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BB6EEF-2BE1-4A45-A1E3-1B2478E04653}" v="2" dt="2025-02-21T07:56:42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F6CBA-5FF2-4BA1-A776-094FD39C6F5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4657" y="754017"/>
            <a:ext cx="10342685" cy="462228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DETECTION</a:t>
            </a:r>
            <a:br>
              <a:rPr lang="en-US" sz="49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9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49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32" y="3792842"/>
            <a:ext cx="11435136" cy="2077948"/>
          </a:xfrm>
        </p:spPr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88" y="2746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441C05-BAFE-449D-6EDC-0F63005DA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650" y="1876227"/>
            <a:ext cx="1162126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AI-powered, web-based application designed to address these challenges by offering real-time skin type classification and detection of six common skin diseases: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Eczema, Rosacea, Herpes, Bullous, Psoriasis, and Warts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cutting-edge technologies including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+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backend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upload a skin image and receive immediate diagnostic insights along with visual heatmap explanations.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employs a lightweight, microservices-based architecture, uses Seaborn visualizations for model interpretability, and supports continuous learning via user feedback.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early-stage detection and user-friendly accessibility,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the potential of deep learning applications in promoting proactive skin health management at a global scale.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A3CC-44C8-1B14-5A8C-F2BB5EAF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4604-58D3-D741-641C-855C3260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" y="2746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924851-F392-3D31-AA97-3F8E556CC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650" y="1894183"/>
            <a:ext cx="11621262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Burden of Skin Disorders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Skin conditions such as eczema, rosacea, and psoriasis affect millions globally, yet early detection remains limited.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Barriers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users lack access to qualified dermatologists, especially in rural or economically challenged regions.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Patients are often unaware of their skin type (dry, oily, normal), which is a key factor in preventing skin-related issues.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Diagnosis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Without early identification, minor skin symptoms can escalate into severe, chronic conditions.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AI Intervention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a strong demand for a fast, accessible, and cost-effective solution that provides early skin health insights using technology.</a:t>
            </a: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challenges by offering AI-based detection of skin types and diseases via a simple image upload.</a:t>
            </a:r>
          </a:p>
        </p:txBody>
      </p:sp>
    </p:spTree>
    <p:extLst>
      <p:ext uri="{BB962C8B-B14F-4D97-AF65-F5344CB8AC3E}">
        <p14:creationId xmlns:p14="http://schemas.microsoft.com/office/powerpoint/2010/main" val="207174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9CA3-9AEE-BE23-4C39-3E51E3AE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A5E2-C3AF-8055-944F-0276A1A9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529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E7543E-9E6B-FB6B-7685-E74E55C08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536800"/>
            <a:ext cx="11430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people do not know their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type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incorrect skincare practices that worsen conditions.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Dry skin can cause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irritation, flakiness, and infections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not managed properly.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Oily skin leads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acne, clogged pores, bacterial growth, and permanent scarring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Dermatologists rely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subjective assessment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may not always be accurate.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 removes subjectivity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data-driven insights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improved skin health.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Approach: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 Model deep learning-based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to classify skin type and skin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accurately using EfficientNet-B0.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techniques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skin texture, color variations, and moisture content.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application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users to upload an image and receive instant analysis and recommendations.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to work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low-power devices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smartphones and tablets.</a:t>
            </a:r>
          </a:p>
        </p:txBody>
      </p:sp>
    </p:spTree>
    <p:extLst>
      <p:ext uri="{BB962C8B-B14F-4D97-AF65-F5344CB8AC3E}">
        <p14:creationId xmlns:p14="http://schemas.microsoft.com/office/powerpoint/2010/main" val="408069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9050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54BB69-C812-EAAA-EB84-D7477D0B58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53878"/>
              </p:ext>
            </p:extLst>
          </p:nvPr>
        </p:nvGraphicFramePr>
        <p:xfrm>
          <a:off x="247650" y="1413668"/>
          <a:ext cx="11696700" cy="5253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3516">
                  <a:extLst>
                    <a:ext uri="{9D8B030D-6E8A-4147-A177-3AD203B41FA5}">
                      <a16:colId xmlns:a16="http://schemas.microsoft.com/office/drawing/2014/main" val="3820621400"/>
                    </a:ext>
                  </a:extLst>
                </a:gridCol>
                <a:gridCol w="3654530">
                  <a:extLst>
                    <a:ext uri="{9D8B030D-6E8A-4147-A177-3AD203B41FA5}">
                      <a16:colId xmlns:a16="http://schemas.microsoft.com/office/drawing/2014/main" val="271415572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194624745"/>
                    </a:ext>
                  </a:extLst>
                </a:gridCol>
                <a:gridCol w="3650742">
                  <a:extLst>
                    <a:ext uri="{9D8B030D-6E8A-4147-A177-3AD203B41FA5}">
                      <a16:colId xmlns:a16="http://schemas.microsoft.com/office/drawing/2014/main" val="2614537083"/>
                    </a:ext>
                  </a:extLst>
                </a:gridCol>
              </a:tblGrid>
              <a:tr h="98773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(Name of the journal, author and publication details)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(Provide a Summary of key studies and their findings)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gaps and limitations.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(Identify the limitations of the Research Paper)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6884873"/>
                  </a:ext>
                </a:extLst>
              </a:tr>
              <a:tr h="133812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Kawahara, J.,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BenTaieb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Hamarneh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(2016). Deep learning for skin lesion classification. IEEE Transactions on Medical Imaging, 35(5), 1182-1195.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CNN-based approach for lesion classification. 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ISIC dataset. 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state-of-the-art accuracy in melanoma detection.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lack complete meaning and understanding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adept at handling nuanced semantic information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struggle with ambiguity and context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5328457"/>
                  </a:ext>
                </a:extLst>
              </a:tr>
              <a:tr h="148951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Esteva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Kuprel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B., Novoa, R. A., Ko, J.,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Swetter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M., Blau, H. M., &amp; Thrun, S. (2017). Dermatologist-level classification of skin cancer with deep neural networks. Nature, 542(7639), 115-118.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deep CNNs trained on over 130,000 images.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Outperformed dermatologists in melanoma detection.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potential for AI in dermatology.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cancer detection, not skin type classification.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requirements. 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Lacked generalizability to non-melanoma skin conditions.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9218483"/>
                  </a:ext>
                </a:extLst>
              </a:tr>
              <a:tr h="14384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Codella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N. C., Nguyen, Q. B.,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Pankanti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S., Gutman, D.,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Helba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B., Halpern, A., &amp; Smith, J. R. (2017). Deep learning ensembles for melanoma recognition in 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dermoscopy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images. IBM Journal of Research and Development, 61(4/5), 5:1-5:15.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ensemble of deep learning models. 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performance by combining multiple networks. 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dermoscopic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images for precise melanoma classification.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methods increased processing time. 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high-quality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dermoscopic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images. </a:t>
                      </a:r>
                    </a:p>
                    <a:p>
                      <a:pPr marL="171450" indent="-1714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applicable for general skin-type classification.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35794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7F67-9FEE-7BAB-5616-97D08860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B065-B1D8-C675-05A0-1651F7007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690688"/>
            <a:ext cx="11265408" cy="43513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AI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skin-type classification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moisture balance and oil levels.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signal processing techniques with deep learning models for enhanced accuracy.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efficient, real-time AI-based web applications that offer instant analysis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skincare recommendations.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AI skin studies focus on disease detection rather than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skin health assessment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publicly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datasets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curated for skin moisture and oil classification, restricting model training capabilities.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techniques, combining visual, thermal, and spectroscopy data for better skin analysis.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user-adaptive models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consider age, gender, and ethnicity-based variations in skin types.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research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real-world deployment of AI skin analysis tools, making practical implementation a challenge.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44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897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1865313"/>
            <a:ext cx="11157204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robust AI 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using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EfficientNet-B0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classify skin types accurately, ensuring scalability and high accuracy.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signal processing techniques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I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skin texture, </a:t>
            </a:r>
            <a:r>
              <a:rPr lang="en-I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variation, moisture levels, and oil distribution.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real-time web application 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an intuitive user interface, allowing users to upload images and receive immediate, AI-powered analysis.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accuracy, efficiency, and computational feasibility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ensuring that the model is optimized for deployment on smartphones, tablets, and low-power devices.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Conduct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performance evaluations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against existing models like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ResNet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VGG16, and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MobileNet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ensuring superior precision and recall.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 the impact of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external factors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such as lighting conditions, skin tone variations, and environmental influences on the model’s accuracy.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adaptive learning mechanism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the AI system improves over time based on user feedback and dermatological evaluations.</a:t>
            </a: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2233-24B8-EE40-B47A-F9DAA2BB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863498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TECHNIQUE TO IMPLEMENT THE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9845-043E-D108-D4F5-CB75F144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825625"/>
            <a:ext cx="1106424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: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neural network architecture for medical imaging.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 for training and deploying models.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transformation and model integration for deep learning.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for analyzing skin-type classification accuracy.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Techniques 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edges, textures, and moisture levels using advanced filtering methods.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Texture Analysis: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detection, histogram equalization,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mapping, pixel clustering.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Level Detection: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intensity, light reflection analysis to determine hydration levels.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blur, median filtering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image clarity before processing.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91D6-6EF8-FBB3-E120-16F152EF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76AF-4E03-086B-B90E-05474B84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1" y="402336"/>
            <a:ext cx="84582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240ECA1-B163-69D0-B10E-4689BC79E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473418"/>
              </p:ext>
            </p:extLst>
          </p:nvPr>
        </p:nvGraphicFramePr>
        <p:xfrm>
          <a:off x="838200" y="1602658"/>
          <a:ext cx="10515600" cy="4853008"/>
        </p:xfrm>
        <a:graphic>
          <a:graphicData uri="http://schemas.openxmlformats.org/drawingml/2006/table">
            <a:tbl>
              <a:tblPr/>
              <a:tblGrid>
                <a:gridCol w="3330677">
                  <a:extLst>
                    <a:ext uri="{9D8B030D-6E8A-4147-A177-3AD203B41FA5}">
                      <a16:colId xmlns:a16="http://schemas.microsoft.com/office/drawing/2014/main" val="60827890"/>
                    </a:ext>
                  </a:extLst>
                </a:gridCol>
                <a:gridCol w="7184923">
                  <a:extLst>
                    <a:ext uri="{9D8B030D-6E8A-4147-A177-3AD203B41FA5}">
                      <a16:colId xmlns:a16="http://schemas.microsoft.com/office/drawing/2014/main" val="984412091"/>
                    </a:ext>
                  </a:extLst>
                </a:gridCol>
              </a:tblGrid>
              <a:tr h="510843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871656"/>
                  </a:ext>
                </a:extLst>
              </a:tr>
              <a:tr h="510843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 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579698"/>
                  </a:ext>
                </a:extLst>
              </a:tr>
              <a:tr h="510843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Flask (API Framework)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117488"/>
                  </a:ext>
                </a:extLst>
              </a:tr>
              <a:tr h="510843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Frameworks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PyTorch, TensorFlow + Keras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491334"/>
                  </a:ext>
                </a:extLst>
              </a:tr>
              <a:tr h="893975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Architecture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EfficientNet-B0 (for disease detection), CNN (for skin type)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133884"/>
                  </a:ext>
                </a:extLst>
              </a:tr>
              <a:tr h="510843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172520"/>
                  </a:ext>
                </a:extLst>
              </a:tr>
              <a:tr h="893975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Seaborn, Matplotlib (for heatmaps and accuracy graphs)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001364"/>
                  </a:ext>
                </a:extLst>
              </a:tr>
              <a:tr h="510843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browser (desktop + mobile responsive)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696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6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B7022-8505-8737-3287-37450191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4F7C-074B-6D83-C210-D9CA6E0E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1" y="402336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OF OUR APPROACH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5017C8-FEC8-0D77-B514-F36672233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2" t="26971" r="20173" b="28479"/>
          <a:stretch/>
        </p:blipFill>
        <p:spPr>
          <a:xfrm>
            <a:off x="324414" y="1600200"/>
            <a:ext cx="11543171" cy="4855464"/>
          </a:xfrm>
        </p:spPr>
      </p:pic>
    </p:spTree>
    <p:extLst>
      <p:ext uri="{BB962C8B-B14F-4D97-AF65-F5344CB8AC3E}">
        <p14:creationId xmlns:p14="http://schemas.microsoft.com/office/powerpoint/2010/main" val="43256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55CD-D808-1773-3927-EA0A6216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23BF-440D-C549-D46D-32CFE75F1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1" y="402336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BASED ON SKIN DISEASE DETECTION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D3BEE9-66C5-AAE3-4E14-8608A04ED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8" t="5496" r="11742" b="6154"/>
          <a:stretch/>
        </p:blipFill>
        <p:spPr>
          <a:xfrm>
            <a:off x="2066360" y="1554585"/>
            <a:ext cx="8059280" cy="5217184"/>
          </a:xfrm>
        </p:spPr>
      </p:pic>
    </p:spTree>
    <p:extLst>
      <p:ext uri="{BB962C8B-B14F-4D97-AF65-F5344CB8AC3E}">
        <p14:creationId xmlns:p14="http://schemas.microsoft.com/office/powerpoint/2010/main" val="23561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7D3F-EEAA-93A6-B788-6DE41509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5463-1C25-8E26-82E7-D666D7E5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3D277B-C432-34E7-0291-206489A8D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92" y="1404620"/>
            <a:ext cx="8483909" cy="509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54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36E9-0760-DCD9-31CD-F2EC452A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5D5B-67CB-A6D9-097F-10E676A8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D6908D-75D0-AE65-1952-7F865ED29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98" y="1544206"/>
            <a:ext cx="10451203" cy="523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703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4899-B27A-0655-D247-50F97B20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EC9C-63A2-CFC9-BEE0-C882CA46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836AA6A-0AB1-D0E5-300F-F56608BF1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56" y="1481350"/>
            <a:ext cx="10389218" cy="521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43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608E-1070-4268-6F79-6909AE2A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A0E1-2153-570A-4012-3B1CB2AE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EB1F6FC-88FB-9D38-6831-BCB04A2E8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56" y="1561394"/>
            <a:ext cx="10559795" cy="529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23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05854-68DE-DCCA-6275-FC75587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6538-3FCC-2E9F-0198-16549947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F46DDC6-836D-AA13-77CA-B16C7E2E7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56" y="1558011"/>
            <a:ext cx="10328076" cy="517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995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6047-AF9E-E71F-34EF-5C47361E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4F39-5AC7-ABE8-4C75-2965A583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56" y="3602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5B79F7-E0C2-CF5B-0BF3-54F584088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461" y="1268361"/>
            <a:ext cx="6987049" cy="55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89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0F62-4035-C6EE-528C-4DD979A7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BD06-8381-4F5A-D332-9B76177D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985" y="727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WEBSITE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2CC1080-2B8E-AFA4-6425-A8F3AD3F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834" y="1309840"/>
            <a:ext cx="9530332" cy="536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985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826D-71E5-F28F-F981-026A5DC8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D34A-A819-3B0E-1100-4C0E5BC5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985" y="72767"/>
            <a:ext cx="8458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WEBSITE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AE0C302-72BA-CB66-C5B9-1D2B38D1C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984" y="1308919"/>
            <a:ext cx="9448031" cy="530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97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1E57-7D8C-BE0D-5B79-9F760D21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9EDF-C3C1-BA10-AAC4-E7E6D85B8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8634984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C4CC-337D-D9C3-2D02-8D00A4256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5625"/>
            <a:ext cx="11156565" cy="4466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strong foundation for AI-driven dermatology, several improvements are planned: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Expansion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 diversity in terms of ethnicity, lighting, and skin tones to improve generalizability.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Disease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Incorporate few-shot learning and GAN-based data synthesis to cover rarer skin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Optimization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model compression (e.g., pruning, quantization) for real-time inference on mobile and edge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EHR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 interoperability with Electronic Health Records using FHIR standards for clinical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 support for time-based lesion tracking to monitor disease progression and treatment response.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will make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robust, scalable, and suitable for real-world clinical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2755016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0DB4-4D75-6235-C65E-A7383FDD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7705-2B0E-5F3C-1D33-CF951082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8634984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11DF-1961-E66E-54FE-75303078C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653424"/>
            <a:ext cx="1106424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pivotal advancement in the intersection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dermatology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a unified platform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type classification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deep learning. By utilizing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advanced image preprocessing, the system demonstrates high accuracy and clinical relevance, while maintaining computational efficiency.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seamless integration of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web interface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lightweight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an interactive, real-time diagnostic experience that is accessible on both clinical and non-clinical fronts.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DermaScan’s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capacity to analyze fine-grained skin features—such as texture, tone, and lesion patterns—makes it capable of operating effectively even in visually similar conditions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Rosacea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Bullous diseases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empowering users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heatmap-based explanations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DermaScan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as an important tool in the field of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teledermatology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skin 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has the potential to reduce diagnostic delays, enhance patient awareness, and support clinicians in early-stage decision-making.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07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8" y="190500"/>
            <a:ext cx="10515600" cy="1325563"/>
          </a:xfrm>
        </p:spPr>
        <p:txBody>
          <a:bodyPr>
            <a:normAutofit/>
          </a:bodyPr>
          <a:lstStyle/>
          <a:p>
            <a:pPr marR="9525">
              <a:lnSpc>
                <a:spcPct val="115000"/>
              </a:lnSpc>
              <a:tabLst>
                <a:tab pos="297180" algn="l"/>
                <a:tab pos="297815" algn="l"/>
              </a:tabLst>
            </a:pP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PROJECT SDG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68" y="1516063"/>
            <a:ext cx="9503664" cy="5166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aligns with the United Nations Sustainable Development Goals (SDGs), addressing key challenges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3: Good Health and Well-being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early diagnosis and treatment of skin conditions, reducing long-term dermatological complications.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recommendations to promote better skincare habits and disease prevention.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dependence on self-diagnosis, minimizing incorrect treatments that may worsen skin conditions.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equitable access to AI-powered skin analysis, bridging gaps in dermatological healthcare.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&amp; Infrastructure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healthcare innovations enhance accessibility and efficiency.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technological advancements in dermatology, opening doors for further AI-based medical research.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08D0F-DB5A-73E4-3FEC-1C50168B2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041" y="2115535"/>
            <a:ext cx="2143125" cy="2143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45B47-6211-7AED-D8C1-F37C19306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041" y="4418903"/>
            <a:ext cx="2143125" cy="224859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343" y="0"/>
            <a:ext cx="89560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0639EBB-E06E-2C38-C711-E9E17EBA9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79876"/>
              </p:ext>
            </p:extLst>
          </p:nvPr>
        </p:nvGraphicFramePr>
        <p:xfrm>
          <a:off x="173737" y="1065329"/>
          <a:ext cx="11770616" cy="5246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3">
                  <a:extLst>
                    <a:ext uri="{9D8B030D-6E8A-4147-A177-3AD203B41FA5}">
                      <a16:colId xmlns:a16="http://schemas.microsoft.com/office/drawing/2014/main" val="1732573893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502189538"/>
                    </a:ext>
                  </a:extLst>
                </a:gridCol>
                <a:gridCol w="1368355">
                  <a:extLst>
                    <a:ext uri="{9D8B030D-6E8A-4147-A177-3AD203B41FA5}">
                      <a16:colId xmlns:a16="http://schemas.microsoft.com/office/drawing/2014/main" val="927455386"/>
                    </a:ext>
                  </a:extLst>
                </a:gridCol>
                <a:gridCol w="1356557">
                  <a:extLst>
                    <a:ext uri="{9D8B030D-6E8A-4147-A177-3AD203B41FA5}">
                      <a16:colId xmlns:a16="http://schemas.microsoft.com/office/drawing/2014/main" val="1099401360"/>
                    </a:ext>
                  </a:extLst>
                </a:gridCol>
                <a:gridCol w="1458351">
                  <a:extLst>
                    <a:ext uri="{9D8B030D-6E8A-4147-A177-3AD203B41FA5}">
                      <a16:colId xmlns:a16="http://schemas.microsoft.com/office/drawing/2014/main" val="1792757902"/>
                    </a:ext>
                  </a:extLst>
                </a:gridCol>
                <a:gridCol w="1407454">
                  <a:extLst>
                    <a:ext uri="{9D8B030D-6E8A-4147-A177-3AD203B41FA5}">
                      <a16:colId xmlns:a16="http://schemas.microsoft.com/office/drawing/2014/main" val="2374890515"/>
                    </a:ext>
                  </a:extLst>
                </a:gridCol>
                <a:gridCol w="1407454">
                  <a:extLst>
                    <a:ext uri="{9D8B030D-6E8A-4147-A177-3AD203B41FA5}">
                      <a16:colId xmlns:a16="http://schemas.microsoft.com/office/drawing/2014/main" val="2484409696"/>
                    </a:ext>
                  </a:extLst>
                </a:gridCol>
                <a:gridCol w="1407454">
                  <a:extLst>
                    <a:ext uri="{9D8B030D-6E8A-4147-A177-3AD203B41FA5}">
                      <a16:colId xmlns:a16="http://schemas.microsoft.com/office/drawing/2014/main" val="2737340460"/>
                    </a:ext>
                  </a:extLst>
                </a:gridCol>
              </a:tblGrid>
              <a:tr h="5784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 11-12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417425"/>
                  </a:ext>
                </a:extLst>
              </a:tr>
              <a:tr h="646784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&amp;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review, defining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2990"/>
                  </a:ext>
                </a:extLst>
              </a:tr>
              <a:tr h="653846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Gathering skin image dataset,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2566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EfficientNet-B0 for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1009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Designing frontend &amp; backend, API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982579"/>
                  </a:ext>
                </a:extLst>
              </a:tr>
              <a:tr h="705782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accuracy testing, UI/UX refinements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71208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deployment, final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769801"/>
                  </a:ext>
                </a:extLst>
              </a:tr>
              <a:tr h="578409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writing, final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91599"/>
                  </a:ext>
                </a:extLst>
              </a:tr>
            </a:tbl>
          </a:graphicData>
        </a:graphic>
      </p:graphicFrame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BD324F7-5E1D-CB09-0C7B-AC03E1E59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0584" y="1682496"/>
            <a:ext cx="560832" cy="5608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58EA7B-516E-8414-67E2-8219936EA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937" y="1682496"/>
            <a:ext cx="560881" cy="560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7DF356-8874-C856-3504-102008201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937" y="2364744"/>
            <a:ext cx="560881" cy="5608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AEDF11-DF7B-953A-B2F2-FF21218AA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382" y="2347153"/>
            <a:ext cx="560881" cy="5608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64B5F4-BDA2-E963-7CB5-79EEBBA5F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382" y="3074266"/>
            <a:ext cx="560881" cy="5608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751022-BE45-4E15-ABDB-32CA5431F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47" y="3074267"/>
            <a:ext cx="560881" cy="560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A4F039-F789-36C7-BF80-39AE137C6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47" y="3797783"/>
            <a:ext cx="560881" cy="560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825B7A-CEED-AA24-8A6F-FFBB6DACA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943" y="3797782"/>
            <a:ext cx="560881" cy="560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718B05-B8BC-FF7E-AD93-98D012E4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943" y="4493859"/>
            <a:ext cx="560881" cy="5608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7F9A10-2D2A-C318-2844-D5315125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943" y="5175322"/>
            <a:ext cx="560881" cy="5608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243CA9-EE81-8B88-E79F-665DC3745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75" y="5231789"/>
            <a:ext cx="560881" cy="5608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4AF966-188F-ED44-C654-CEB16F78B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15" y="5752313"/>
            <a:ext cx="560881" cy="5608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274637"/>
            <a:ext cx="10515600" cy="132556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825625"/>
            <a:ext cx="11560302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Kawahara, J.,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BenTaieb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A.,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Hamarneh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G. (2016). Deep learning for skin lesion classification. IEEE Transactions on Medical Imaging, 35(5), 1182-1195.</a:t>
            </a:r>
          </a:p>
          <a:p>
            <a:pPr algn="just"/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Esteva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A.,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Kuprel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B., Novoa, R. A., Ko, J.,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Swetter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S. M., Blau, H. M., &amp; Thrun, S. (2017). Dermatologist-level classification of skin cancer with deep neural networks. Nature, 542(7639), 115-118.</a:t>
            </a:r>
          </a:p>
          <a:p>
            <a:pPr algn="just"/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Codella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N. C., Nguyen, Q. B.,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Pankanti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S., Gutman, D.,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Helba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B., Halpern, A., &amp; Smith, J. R. (2017). Deep learning ensembles for melanoma recognition in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dermoscopy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 images. IBM Journal of Research and Development, 61(4/5), 5:1-5:15.</a:t>
            </a:r>
          </a:p>
          <a:p>
            <a:pPr algn="just"/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Brinker, T. J.,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Hekler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A.,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Enk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A. H.,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Klode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J., Hauschild, A.,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Berking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C., ... &amp;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Haenssle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H. A. (2019). Deep learning outperformed 136 dermatologists in a head-to-head artificial intelligence comparison. </a:t>
            </a:r>
          </a:p>
          <a:p>
            <a:pPr algn="just"/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European Journal of Cancer, 113, 47-54.Litjens, G., Kooi, T.,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Bejnordi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B. E.,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Setio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A. A. A.,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Ciompi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F., </a:t>
            </a:r>
            <a:r>
              <a:rPr lang="en-IN" sz="2000" dirty="0" err="1">
                <a:latin typeface="Times New Roman" panose="02020603050405020304"/>
                <a:ea typeface="Calibri" panose="020F0502020204030204"/>
                <a:sym typeface="+mn-ea"/>
              </a:rPr>
              <a:t>Ghafoorian</a:t>
            </a:r>
            <a:r>
              <a:rPr lang="en-IN" sz="2000" dirty="0">
                <a:latin typeface="Times New Roman" panose="02020603050405020304"/>
                <a:ea typeface="Calibri" panose="020F0502020204030204"/>
                <a:sym typeface="+mn-ea"/>
              </a:rPr>
              <a:t>, M., ... &amp; van der Laak, J. A. (2017). A survey on deep learning in medical image analysis. Medical Image Analysis, 42, 60-88.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i="1" kern="1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CD6AACEC-C130-242E-D3CD-AE837A86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499" y="521390"/>
            <a:ext cx="3657002" cy="3657002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SKIN_DISEASE_DETECTION[1]  -</Template>
  <TotalTime>50</TotalTime>
  <Words>2025</Words>
  <Application>Microsoft Office PowerPoint</Application>
  <PresentationFormat>Widescreen</PresentationFormat>
  <Paragraphs>168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  SKIN DISEASE DETECTION (DermaScan) </vt:lpstr>
      <vt:lpstr>ABSTRACT</vt:lpstr>
      <vt:lpstr>PROBLEM STATEMENT</vt:lpstr>
      <vt:lpstr>INTRODUCTION</vt:lpstr>
      <vt:lpstr>LITERATURE SURVEY </vt:lpstr>
      <vt:lpstr>RESEARCH GAPS</vt:lpstr>
      <vt:lpstr>RESEARCH OBJECTIVES</vt:lpstr>
      <vt:lpstr>IDENTIFY THE TECHNIQUE TO IMPLEMENT THE OBJECTIVES </vt:lpstr>
      <vt:lpstr>TECHNOLOGY STACK</vt:lpstr>
      <vt:lpstr>PROPOSED METHODOLOGY OF OUR APPROACH</vt:lpstr>
      <vt:lpstr>SYSTEM ARCHITECTURE BASED ON SKIN DISEASE DETECTION</vt:lpstr>
      <vt:lpstr>RESULTS AND DISCUSSION</vt:lpstr>
      <vt:lpstr>RESULTS AND DISCUSSION</vt:lpstr>
      <vt:lpstr>RESULTS AND DISCUSSION</vt:lpstr>
      <vt:lpstr>RESULTS AND DISCUSSION</vt:lpstr>
      <vt:lpstr>RESULTS AND DISCUSSION</vt:lpstr>
      <vt:lpstr>RESULTS AND DISCUSSION</vt:lpstr>
      <vt:lpstr>OUR WEBSITE</vt:lpstr>
      <vt:lpstr>OUR WEBSITE</vt:lpstr>
      <vt:lpstr>FUTURE WORK </vt:lpstr>
      <vt:lpstr>CONCLUSION </vt:lpstr>
      <vt:lpstr>JUSTIFICATION OF PROJECT SDG</vt:lpstr>
      <vt:lpstr>PROJECT TIMELINE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AKANKSHYA PANDA</dc:creator>
  <cp:lastModifiedBy>Dev</cp:lastModifiedBy>
  <cp:revision>4</cp:revision>
  <dcterms:created xsi:type="dcterms:W3CDTF">2025-04-29T06:58:10Z</dcterms:created>
  <dcterms:modified xsi:type="dcterms:W3CDTF">2025-05-03T12:57:07Z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D803689E00384A5DBDFF96BA1568FB1A_13</vt:lpwstr>
  </property>
  <property fmtid="{D5CDD505-2E9C-101B-9397-08002B2CF9AE}" pid="3" name="KSOProductBuildVer">
    <vt:lpwstr>1033-12.2.0.19805</vt:lpwstr>
  </property>
</Properties>
</file>